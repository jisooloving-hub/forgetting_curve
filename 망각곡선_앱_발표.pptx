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560320"/>
            <a:ext cx="12188952" cy="73152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09728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FFFFFF"/>
                </a:solidFill>
                <a:latin typeface="NanumGothicExtraBold"/>
              </a:rPr>
              <a:t>🧠 망각곡선 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AACCFF"/>
                </a:solidFill>
                <a:latin typeface="Noto Sans KR Light"/>
              </a:rPr>
              <a:t>복습 타이밍 자동 추천 앱 — React Native 프로토타입 개발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53035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888888"/>
                </a:solidFill>
                <a:latin typeface="Noto Sans KR Light"/>
              </a:rPr>
              <a:t>2026. 05. 25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2600" b="1">
                <a:solidFill>
                  <a:srgbClr val="FFFFFF"/>
                </a:solidFill>
                <a:latin typeface="NanumGothicExtraBold"/>
              </a:rPr>
              <a:t>  기술 스택 선택</a:t>
            </a:r>
          </a:p>
          <a:p>
            <a:r>
              <a:rPr sz="1300">
                <a:solidFill>
                  <a:srgbClr val="AACCFF"/>
                </a:solidFill>
                <a:latin typeface="Noto Sans KR Light"/>
              </a:rPr>
              <a:t>  각 기술을 선택한 이유</a:t>
            </a:r>
          </a:p>
        </p:txBody>
      </p:sp>
      <p:sp>
        <p:nvSpPr>
          <p:cNvPr id="3" name="Rectangle 2"/>
          <p:cNvSpPr/>
          <p:nvPr/>
        </p:nvSpPr>
        <p:spPr>
          <a:xfrm>
            <a:off x="324611" y="1097280"/>
            <a:ext cx="2103120" cy="82296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NanumGothicExtraBold"/>
              </a:rPr>
              <a:t>Expo
(React Native)</a:t>
            </a:r>
          </a:p>
          <a:p>
            <a:pPr algn="ctr"/>
            <a:r>
              <a:rPr sz="1000">
                <a:solidFill>
                  <a:srgbClr val="EEEEFF"/>
                </a:solidFill>
                <a:latin typeface="Noto Sans KR Light"/>
              </a:rPr>
              <a:t>앱 프레임워크</a:t>
            </a:r>
          </a:p>
        </p:txBody>
      </p:sp>
      <p:sp>
        <p:nvSpPr>
          <p:cNvPr id="4" name="Rectangle 3"/>
          <p:cNvSpPr/>
          <p:nvPr/>
        </p:nvSpPr>
        <p:spPr>
          <a:xfrm>
            <a:off x="324611" y="1920240"/>
            <a:ext cx="2103120" cy="4023359"/>
          </a:xfrm>
          <a:prstGeom prst="rect">
            <a:avLst/>
          </a:prstGeom>
          <a:solidFill>
            <a:srgbClr val="F8F8F8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00" b="1">
                <a:solidFill>
                  <a:srgbClr val="2C3E50"/>
                </a:solidFill>
                <a:latin typeface="Noto Sans KR Light"/>
              </a:rPr>
              <a:t>선택 이유:</a:t>
            </a:r>
          </a:p>
          <a:p>
            <a:pPr algn="l"/>
            <a:r>
              <a:rPr sz="1100" b="0">
                <a:solidFill>
                  <a:srgbClr val="2C3E50"/>
                </a:solidFill>
                <a:latin typeface="Noto Sans KR Light"/>
              </a:rPr>
              <a:t>• Windows에서도 개발 가능</a:t>
            </a:r>
          </a:p>
          <a:p>
            <a:pPr algn="l"/>
            <a:r>
              <a:rPr sz="1100" b="0">
                <a:solidFill>
                  <a:srgbClr val="2C3E50"/>
                </a:solidFill>
                <a:latin typeface="Noto Sans KR Light"/>
              </a:rPr>
              <a:t>  (React Native CLI는</a:t>
            </a:r>
          </a:p>
          <a:p>
            <a:pPr algn="l"/>
            <a:r>
              <a:rPr sz="1100" b="0">
                <a:solidFill>
                  <a:srgbClr val="2C3E50"/>
                </a:solidFill>
                <a:latin typeface="Noto Sans KR Light"/>
              </a:rPr>
              <a:t>   Mac 없으면 iOS 불가)</a:t>
            </a:r>
          </a:p>
          <a:p>
            <a:pPr algn="l"/>
            <a:r>
              <a:rPr sz="1100" b="0">
                <a:solidFill>
                  <a:srgbClr val="2C3E50"/>
                </a:solidFill>
                <a:latin typeface="Noto Sans KR Light"/>
              </a:rPr>
              <a:t>• Expo Go 앱으로 QR 코드</a:t>
            </a:r>
          </a:p>
          <a:p>
            <a:pPr algn="l"/>
            <a:r>
              <a:rPr sz="1100" b="0">
                <a:solidFill>
                  <a:srgbClr val="2C3E50"/>
                </a:solidFill>
                <a:latin typeface="Noto Sans KR Light"/>
              </a:rPr>
              <a:t>  스캔 → 즉시 폰 테스트</a:t>
            </a:r>
          </a:p>
          <a:p>
            <a:pPr algn="l"/>
            <a:r>
              <a:rPr sz="1100" b="0">
                <a:solidFill>
                  <a:srgbClr val="2C3E50"/>
                </a:solidFill>
                <a:latin typeface="Noto Sans KR Light"/>
              </a:rPr>
              <a:t>• 설정 5분 만에 시작 가능</a:t>
            </a:r>
          </a:p>
        </p:txBody>
      </p:sp>
      <p:sp>
        <p:nvSpPr>
          <p:cNvPr id="5" name="Rectangle 4"/>
          <p:cNvSpPr/>
          <p:nvPr/>
        </p:nvSpPr>
        <p:spPr>
          <a:xfrm>
            <a:off x="2683763" y="1097280"/>
            <a:ext cx="2103120" cy="822960"/>
          </a:xfrm>
          <a:prstGeom prst="rect">
            <a:avLst/>
          </a:prstGeom>
          <a:solidFill>
            <a:srgbClr val="FF9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NanumGothicExtraBold"/>
              </a:rPr>
              <a:t>Firebase</a:t>
            </a:r>
          </a:p>
          <a:p>
            <a:pPr algn="ctr"/>
            <a:r>
              <a:rPr sz="1000">
                <a:solidFill>
                  <a:srgbClr val="EEEEFF"/>
                </a:solidFill>
                <a:latin typeface="Noto Sans KR Light"/>
              </a:rPr>
              <a:t>인증 + 데이터베이스</a:t>
            </a:r>
          </a:p>
        </p:txBody>
      </p:sp>
      <p:sp>
        <p:nvSpPr>
          <p:cNvPr id="6" name="Rectangle 5"/>
          <p:cNvSpPr/>
          <p:nvPr/>
        </p:nvSpPr>
        <p:spPr>
          <a:xfrm>
            <a:off x="2683763" y="1920240"/>
            <a:ext cx="2103120" cy="4023359"/>
          </a:xfrm>
          <a:prstGeom prst="rect">
            <a:avLst/>
          </a:prstGeom>
          <a:solidFill>
            <a:srgbClr val="F8F8F8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00" b="1">
                <a:solidFill>
                  <a:srgbClr val="2C3E50"/>
                </a:solidFill>
                <a:latin typeface="Noto Sans KR Light"/>
              </a:rPr>
              <a:t>선택 이유:</a:t>
            </a:r>
          </a:p>
          <a:p>
            <a:pPr algn="l"/>
            <a:r>
              <a:rPr sz="1100" b="0">
                <a:solidFill>
                  <a:srgbClr val="2C3E50"/>
                </a:solidFill>
                <a:latin typeface="Noto Sans KR Light"/>
              </a:rPr>
              <a:t>• 직접 서버 안 만들어도 됨</a:t>
            </a:r>
          </a:p>
          <a:p>
            <a:pPr algn="l"/>
            <a:r>
              <a:rPr sz="1100" b="0">
                <a:solidFill>
                  <a:srgbClr val="2C3E50"/>
                </a:solidFill>
                <a:latin typeface="Noto Sans KR Light"/>
              </a:rPr>
              <a:t>• Auth: 이메일 로그인</a:t>
            </a:r>
          </a:p>
          <a:p>
            <a:pPr algn="l"/>
            <a:r>
              <a:rPr sz="1100" b="0">
                <a:solidFill>
                  <a:srgbClr val="2C3E50"/>
                </a:solidFill>
                <a:latin typeface="Noto Sans KR Light"/>
              </a:rPr>
              <a:t>  코드 5줄로 구현</a:t>
            </a:r>
          </a:p>
          <a:p>
            <a:pPr algn="l"/>
            <a:r>
              <a:rPr sz="1100" b="0">
                <a:solidFill>
                  <a:srgbClr val="2C3E50"/>
                </a:solidFill>
                <a:latin typeface="Noto Sans KR Light"/>
              </a:rPr>
              <a:t>• Firestore: NoSQL DB</a:t>
            </a:r>
          </a:p>
          <a:p>
            <a:pPr algn="l"/>
            <a:r>
              <a:rPr sz="1100" b="0">
                <a:solidFill>
                  <a:srgbClr val="2C3E50"/>
                </a:solidFill>
                <a:latin typeface="Noto Sans KR Light"/>
              </a:rPr>
              <a:t>  실시간 데이터 동기화</a:t>
            </a:r>
          </a:p>
          <a:p>
            <a:pPr algn="l"/>
            <a:r>
              <a:rPr sz="1100" b="0">
                <a:solidFill>
                  <a:srgbClr val="2C3E50"/>
                </a:solidFill>
                <a:latin typeface="Noto Sans KR Light"/>
              </a:rPr>
              <a:t>• 무료 플랜(Spark)으로</a:t>
            </a:r>
          </a:p>
          <a:p>
            <a:pPr algn="l"/>
            <a:r>
              <a:rPr sz="1100" b="0">
                <a:solidFill>
                  <a:srgbClr val="2C3E50"/>
                </a:solidFill>
                <a:latin typeface="Noto Sans KR Light"/>
              </a:rPr>
              <a:t>  학교 프로젝트 수준 충분</a:t>
            </a:r>
          </a:p>
        </p:txBody>
      </p:sp>
      <p:sp>
        <p:nvSpPr>
          <p:cNvPr id="7" name="Rectangle 6"/>
          <p:cNvSpPr/>
          <p:nvPr/>
        </p:nvSpPr>
        <p:spPr>
          <a:xfrm>
            <a:off x="5042916" y="1097280"/>
            <a:ext cx="2103120" cy="822960"/>
          </a:xfrm>
          <a:prstGeom prst="rect">
            <a:avLst/>
          </a:prstGeom>
          <a:solidFill>
            <a:srgbClr val="7B6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NanumGothicExtraBold"/>
              </a:rPr>
              <a:t>Expo Router</a:t>
            </a:r>
          </a:p>
          <a:p>
            <a:pPr algn="ctr"/>
            <a:r>
              <a:rPr sz="1000">
                <a:solidFill>
                  <a:srgbClr val="EEEEFF"/>
                </a:solidFill>
                <a:latin typeface="Noto Sans KR Light"/>
              </a:rPr>
              <a:t>화면 라우팅</a:t>
            </a:r>
          </a:p>
        </p:txBody>
      </p:sp>
      <p:sp>
        <p:nvSpPr>
          <p:cNvPr id="8" name="Rectangle 7"/>
          <p:cNvSpPr/>
          <p:nvPr/>
        </p:nvSpPr>
        <p:spPr>
          <a:xfrm>
            <a:off x="5042916" y="1920240"/>
            <a:ext cx="2103120" cy="4023359"/>
          </a:xfrm>
          <a:prstGeom prst="rect">
            <a:avLst/>
          </a:prstGeom>
          <a:solidFill>
            <a:srgbClr val="F8F8F8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00" b="1">
                <a:solidFill>
                  <a:srgbClr val="2C3E50"/>
                </a:solidFill>
                <a:latin typeface="Noto Sans KR Light"/>
              </a:rPr>
              <a:t>선택 이유:</a:t>
            </a:r>
          </a:p>
          <a:p>
            <a:pPr algn="l"/>
            <a:r>
              <a:rPr sz="1100" b="0">
                <a:solidFill>
                  <a:srgbClr val="2C3E50"/>
                </a:solidFill>
                <a:latin typeface="Noto Sans KR Light"/>
              </a:rPr>
              <a:t>• 파일 이름 = 화면 경로</a:t>
            </a:r>
          </a:p>
          <a:p>
            <a:pPr algn="l"/>
            <a:r>
              <a:rPr sz="1100" b="0">
                <a:solidFill>
                  <a:srgbClr val="2C3E50"/>
                </a:solidFill>
                <a:latin typeface="Noto Sans KR Light"/>
              </a:rPr>
              <a:t>  login.tsx → /login</a:t>
            </a:r>
          </a:p>
          <a:p>
            <a:pPr algn="l"/>
            <a:r>
              <a:rPr sz="1100" b="0">
                <a:solidFill>
                  <a:srgbClr val="2C3E50"/>
                </a:solidFill>
                <a:latin typeface="Noto Sans KR Light"/>
              </a:rPr>
              <a:t>• 폴더 구조만 봐도</a:t>
            </a:r>
          </a:p>
          <a:p>
            <a:pPr algn="l"/>
            <a:r>
              <a:rPr sz="1100" b="0">
                <a:solidFill>
                  <a:srgbClr val="2C3E50"/>
                </a:solidFill>
                <a:latin typeface="Noto Sans KR Light"/>
              </a:rPr>
              <a:t>  앱 구조 파악 가능</a:t>
            </a:r>
          </a:p>
          <a:p>
            <a:pPr algn="l"/>
            <a:r>
              <a:rPr sz="1100" b="0">
                <a:solidFill>
                  <a:srgbClr val="2C3E50"/>
                </a:solidFill>
                <a:latin typeface="Noto Sans KR Light"/>
              </a:rPr>
              <a:t>• Next.js와 유사한 방식</a:t>
            </a:r>
          </a:p>
          <a:p>
            <a:pPr algn="l"/>
            <a:r>
              <a:rPr sz="1100" b="0">
                <a:solidFill>
                  <a:srgbClr val="2C3E50"/>
                </a:solidFill>
                <a:latin typeface="Noto Sans KR Light"/>
              </a:rPr>
              <a:t>  → 웹 개발 경험 활용</a:t>
            </a:r>
          </a:p>
        </p:txBody>
      </p:sp>
      <p:sp>
        <p:nvSpPr>
          <p:cNvPr id="9" name="Rectangle 8"/>
          <p:cNvSpPr/>
          <p:nvPr/>
        </p:nvSpPr>
        <p:spPr>
          <a:xfrm>
            <a:off x="7402067" y="1097280"/>
            <a:ext cx="2103120" cy="82296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NanumGothicExtraBold"/>
              </a:rPr>
              <a:t>Claude API</a:t>
            </a:r>
          </a:p>
          <a:p>
            <a:pPr algn="ctr"/>
            <a:r>
              <a:rPr sz="1000">
                <a:solidFill>
                  <a:srgbClr val="EEEEFF"/>
                </a:solidFill>
                <a:latin typeface="Noto Sans KR Light"/>
              </a:rPr>
              <a:t>AI 문제 생성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02067" y="1920240"/>
            <a:ext cx="2103120" cy="4023359"/>
          </a:xfrm>
          <a:prstGeom prst="rect">
            <a:avLst/>
          </a:prstGeom>
          <a:solidFill>
            <a:srgbClr val="F8F8F8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00" b="1">
                <a:solidFill>
                  <a:srgbClr val="2C3E50"/>
                </a:solidFill>
                <a:latin typeface="Noto Sans KR Light"/>
              </a:rPr>
              <a:t>선택 이유:</a:t>
            </a:r>
          </a:p>
          <a:p>
            <a:pPr algn="l"/>
            <a:r>
              <a:rPr sz="1100" b="0">
                <a:solidFill>
                  <a:srgbClr val="2C3E50"/>
                </a:solidFill>
                <a:latin typeface="Noto Sans KR Light"/>
              </a:rPr>
              <a:t>• 노트 내용을 넘기면</a:t>
            </a:r>
          </a:p>
          <a:p>
            <a:pPr algn="l"/>
            <a:r>
              <a:rPr sz="1100" b="0">
                <a:solidFill>
                  <a:srgbClr val="2C3E50"/>
                </a:solidFill>
                <a:latin typeface="Noto Sans KR Light"/>
              </a:rPr>
              <a:t>  문제 자동 생성</a:t>
            </a:r>
          </a:p>
          <a:p>
            <a:pPr algn="l"/>
            <a:r>
              <a:rPr sz="1100" b="0">
                <a:solidFill>
                  <a:srgbClr val="2C3E50"/>
                </a:solidFill>
                <a:latin typeface="Noto Sans KR Light"/>
              </a:rPr>
              <a:t>• 앱 차별화 포인트</a:t>
            </a:r>
          </a:p>
          <a:p>
            <a:pPr algn="l"/>
            <a:r>
              <a:rPr sz="1100" b="0">
                <a:solidFill>
                  <a:srgbClr val="2C3E50"/>
                </a:solidFill>
                <a:latin typeface="Noto Sans KR Light"/>
              </a:rPr>
              <a:t>  (단순 자가 체크 대비)</a:t>
            </a:r>
          </a:p>
          <a:p>
            <a:pPr algn="l"/>
            <a:r>
              <a:rPr sz="1100" b="0">
                <a:solidFill>
                  <a:srgbClr val="2C3E50"/>
                </a:solidFill>
                <a:latin typeface="Noto Sans KR Light"/>
              </a:rPr>
              <a:t>• 무료 크레딧으로 시작</a:t>
            </a:r>
          </a:p>
          <a:p>
            <a:pPr algn="l"/>
            <a:r>
              <a:rPr sz="1100" b="0">
                <a:solidFill>
                  <a:srgbClr val="2C3E50"/>
                </a:solidFill>
                <a:latin typeface="Noto Sans KR Light"/>
              </a:rPr>
              <a:t>• 발표 시 'AI 활용'</a:t>
            </a:r>
          </a:p>
          <a:p>
            <a:pPr algn="l"/>
            <a:r>
              <a:rPr sz="1100" b="0">
                <a:solidFill>
                  <a:srgbClr val="2C3E50"/>
                </a:solidFill>
                <a:latin typeface="Noto Sans KR Light"/>
              </a:rPr>
              <a:t>  요소로 어필 가능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761220" y="1097280"/>
            <a:ext cx="2103120" cy="822960"/>
          </a:xfrm>
          <a:prstGeom prst="rect">
            <a:avLst/>
          </a:prstGeom>
          <a:solidFill>
            <a:srgbClr val="239B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NanumGothicExtraBold"/>
              </a:rPr>
              <a:t>TypeScript</a:t>
            </a:r>
          </a:p>
          <a:p>
            <a:pPr algn="ctr"/>
            <a:r>
              <a:rPr sz="1000">
                <a:solidFill>
                  <a:srgbClr val="EEEEFF"/>
                </a:solidFill>
                <a:latin typeface="Noto Sans KR Light"/>
              </a:rPr>
              <a:t>개발 언어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61220" y="1920240"/>
            <a:ext cx="2103120" cy="4023359"/>
          </a:xfrm>
          <a:prstGeom prst="rect">
            <a:avLst/>
          </a:prstGeom>
          <a:solidFill>
            <a:srgbClr val="F8F8F8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00" b="1">
                <a:solidFill>
                  <a:srgbClr val="2C3E50"/>
                </a:solidFill>
                <a:latin typeface="Noto Sans KR Light"/>
              </a:rPr>
              <a:t>선택 이유:</a:t>
            </a:r>
          </a:p>
          <a:p>
            <a:pPr algn="l"/>
            <a:r>
              <a:rPr sz="1100" b="0">
                <a:solidFill>
                  <a:srgbClr val="2C3E50"/>
                </a:solidFill>
                <a:latin typeface="Noto Sans KR Light"/>
              </a:rPr>
              <a:t>• 타입 정의로 데이터</a:t>
            </a:r>
          </a:p>
          <a:p>
            <a:pPr algn="l"/>
            <a:r>
              <a:rPr sz="1100" b="0">
                <a:solidFill>
                  <a:srgbClr val="2C3E50"/>
                </a:solidFill>
                <a:latin typeface="Noto Sans KR Light"/>
              </a:rPr>
              <a:t>  구조 명확히 표현</a:t>
            </a:r>
          </a:p>
          <a:p>
            <a:pPr algn="l"/>
            <a:r>
              <a:rPr sz="1100" b="0">
                <a:solidFill>
                  <a:srgbClr val="2C3E50"/>
                </a:solidFill>
                <a:latin typeface="Noto Sans KR Light"/>
              </a:rPr>
              <a:t>• 오타/타입 오류를</a:t>
            </a:r>
          </a:p>
          <a:p>
            <a:pPr algn="l"/>
            <a:r>
              <a:rPr sz="1100" b="0">
                <a:solidFill>
                  <a:srgbClr val="2C3E50"/>
                </a:solidFill>
                <a:latin typeface="Noto Sans KR Light"/>
              </a:rPr>
              <a:t>  실행 전에 잡아줌</a:t>
            </a:r>
          </a:p>
          <a:p>
            <a:pPr algn="l"/>
            <a:r>
              <a:rPr sz="1100" b="0">
                <a:solidFill>
                  <a:srgbClr val="2C3E50"/>
                </a:solidFill>
                <a:latin typeface="Noto Sans KR Light"/>
              </a:rPr>
              <a:t>• 자동완성 지원으로</a:t>
            </a:r>
          </a:p>
          <a:p>
            <a:pPr algn="l"/>
            <a:r>
              <a:rPr sz="1100" b="0">
                <a:solidFill>
                  <a:srgbClr val="2C3E50"/>
                </a:solidFill>
                <a:latin typeface="Noto Sans KR Light"/>
              </a:rPr>
              <a:t>  개발 속도 향상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2C3E50"/>
                </a:solidFill>
                <a:latin typeface="NanumGothicExtraBold"/>
              </a:rPr>
              <a:t>전체 개발 계획 — 6단계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  <a:latin typeface="Noto Sans KR Light"/>
              </a:rPr>
              <a:t>프로토타입 목표: 1~4단계 완성 후 시연 가능한 수준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463040"/>
            <a:ext cx="1691640" cy="292608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NanumGothicExtraBold"/>
              </a:rPr>
              <a:t>1단계
프로젝트 세팅</a:t>
            </a:r>
          </a:p>
          <a:p>
            <a:pPr algn="ctr"/>
            <a:r>
              <a:rPr sz="1300">
                <a:solidFill>
                  <a:srgbClr val="FFFFFF"/>
                </a:solidFill>
                <a:latin typeface="Noto Sans KR Light"/>
              </a:rPr>
              <a:t>
✅ 완료</a:t>
            </a:r>
          </a:p>
        </p:txBody>
      </p:sp>
      <p:sp>
        <p:nvSpPr>
          <p:cNvPr id="5" name="Rectangle 4"/>
          <p:cNvSpPr/>
          <p:nvPr/>
        </p:nvSpPr>
        <p:spPr>
          <a:xfrm>
            <a:off x="2331720" y="1463040"/>
            <a:ext cx="1691640" cy="2926080"/>
          </a:xfrm>
          <a:prstGeom prst="rect">
            <a:avLst/>
          </a:prstGeom>
          <a:solidFill>
            <a:srgbClr val="7B6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NanumGothicExtraBold"/>
              </a:rPr>
              <a:t>2단계
인증</a:t>
            </a:r>
          </a:p>
          <a:p>
            <a:pPr algn="ctr"/>
            <a:r>
              <a:rPr sz="1300">
                <a:solidFill>
                  <a:srgbClr val="FFFFFF"/>
                </a:solidFill>
                <a:latin typeface="Noto Sans KR Light"/>
              </a:rPr>
              <a:t>
✅ 완료</a:t>
            </a:r>
          </a:p>
        </p:txBody>
      </p:sp>
      <p:sp>
        <p:nvSpPr>
          <p:cNvPr id="6" name="Rectangle 5"/>
          <p:cNvSpPr/>
          <p:nvPr/>
        </p:nvSpPr>
        <p:spPr>
          <a:xfrm>
            <a:off x="4206240" y="1463040"/>
            <a:ext cx="1691640" cy="292608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NanumGothicExtraBold"/>
              </a:rPr>
              <a:t>3단계
노트 + 복습</a:t>
            </a:r>
          </a:p>
          <a:p>
            <a:pPr algn="ctr"/>
            <a:r>
              <a:rPr sz="1300">
                <a:solidFill>
                  <a:srgbClr val="FFFFFF"/>
                </a:solidFill>
                <a:latin typeface="Noto Sans KR Light"/>
              </a:rPr>
              <a:t>
🔄 진행 중</a:t>
            </a:r>
          </a:p>
        </p:txBody>
      </p:sp>
      <p:sp>
        <p:nvSpPr>
          <p:cNvPr id="7" name="Rectangle 6"/>
          <p:cNvSpPr/>
          <p:nvPr/>
        </p:nvSpPr>
        <p:spPr>
          <a:xfrm>
            <a:off x="6080759" y="1463040"/>
            <a:ext cx="1691640" cy="292608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NanumGothicExtraBold"/>
              </a:rPr>
              <a:t>4단계
캘린더 + 스트릭</a:t>
            </a:r>
          </a:p>
          <a:p>
            <a:pPr algn="ctr"/>
            <a:r>
              <a:rPr sz="1300">
                <a:solidFill>
                  <a:srgbClr val="FFFFFF"/>
                </a:solidFill>
                <a:latin typeface="Noto Sans KR Light"/>
              </a:rPr>
              <a:t>
⬜ 예정</a:t>
            </a:r>
          </a:p>
        </p:txBody>
      </p:sp>
      <p:sp>
        <p:nvSpPr>
          <p:cNvPr id="8" name="Rectangle 7"/>
          <p:cNvSpPr/>
          <p:nvPr/>
        </p:nvSpPr>
        <p:spPr>
          <a:xfrm>
            <a:off x="7955279" y="1463040"/>
            <a:ext cx="1691640" cy="292608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NanumGothicExtraBold"/>
              </a:rPr>
              <a:t>5단계
AI 테스트</a:t>
            </a:r>
          </a:p>
          <a:p>
            <a:pPr algn="ctr"/>
            <a:r>
              <a:rPr sz="1300">
                <a:solidFill>
                  <a:srgbClr val="FFFFFF"/>
                </a:solidFill>
                <a:latin typeface="Noto Sans KR Light"/>
              </a:rPr>
              <a:t>
⬜ 예정</a:t>
            </a:r>
          </a:p>
        </p:txBody>
      </p:sp>
      <p:sp>
        <p:nvSpPr>
          <p:cNvPr id="9" name="Rectangle 8"/>
          <p:cNvSpPr/>
          <p:nvPr/>
        </p:nvSpPr>
        <p:spPr>
          <a:xfrm>
            <a:off x="9829800" y="1463040"/>
            <a:ext cx="1691640" cy="2926080"/>
          </a:xfrm>
          <a:prstGeom prst="rect">
            <a:avLst/>
          </a:prstGeom>
          <a:solidFill>
            <a:srgbClr val="95A5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NanumGothicExtraBold"/>
              </a:rPr>
              <a:t>6단계
UI 마무리</a:t>
            </a:r>
          </a:p>
          <a:p>
            <a:pPr algn="ctr"/>
            <a:r>
              <a:rPr sz="1300">
                <a:solidFill>
                  <a:srgbClr val="FFFFFF"/>
                </a:solidFill>
                <a:latin typeface="Noto Sans KR Light"/>
              </a:rPr>
              <a:t>
⬜ 예정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6634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88888"/>
                </a:solidFill>
                <a:latin typeface="Noto Sans KR Light"/>
              </a:rPr>
              <a:t>※ 현재 3단계 진행 중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2600" b="1">
                <a:solidFill>
                  <a:srgbClr val="FFFFFF"/>
                </a:solidFill>
                <a:latin typeface="NanumGothicExtraBold"/>
              </a:rPr>
              <a:t>  앱 기획 — ARD 작성</a:t>
            </a:r>
          </a:p>
          <a:p>
            <a:pPr algn="l"/>
            <a:r>
              <a:rPr sz="1300">
                <a:solidFill>
                  <a:srgbClr val="AACCFF"/>
                </a:solidFill>
                <a:latin typeface="Noto Sans KR Light"/>
              </a:rPr>
              <a:t>  무엇을, 왜, 어떻게 만들 것인가를 문서로 정리</a:t>
            </a:r>
          </a:p>
        </p:txBody>
      </p:sp>
      <p:sp>
        <p:nvSpPr>
          <p:cNvPr id="3" name="Rectangle 2"/>
          <p:cNvSpPr/>
          <p:nvPr/>
        </p:nvSpPr>
        <p:spPr>
          <a:xfrm>
            <a:off x="269747" y="1188720"/>
            <a:ext cx="2651760" cy="50292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NanumGothicExtraBold"/>
              </a:rPr>
              <a:t>핵심 개념</a:t>
            </a:r>
          </a:p>
        </p:txBody>
      </p:sp>
      <p:sp>
        <p:nvSpPr>
          <p:cNvPr id="4" name="Rectangle 3"/>
          <p:cNvSpPr/>
          <p:nvPr/>
        </p:nvSpPr>
        <p:spPr>
          <a:xfrm>
            <a:off x="269747" y="1691640"/>
            <a:ext cx="2651760" cy="4251960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>
                <a:solidFill>
                  <a:srgbClr val="2C3E50"/>
                </a:solidFill>
                <a:latin typeface="Noto Sans KR Light"/>
              </a:rPr>
              <a:t>망각곡선 이론 기반</a:t>
            </a:r>
          </a:p>
          <a:p>
            <a:pPr algn="l"/>
            <a:r>
              <a:rPr sz="1200">
                <a:solidFill>
                  <a:srgbClr val="2C3E50"/>
                </a:solidFill>
                <a:latin typeface="Noto Sans KR Light"/>
              </a:rPr>
              <a:t>복습 타이밍 자동 추천 앱</a:t>
            </a:r>
          </a:p>
          <a:p>
            <a:pPr algn="l"/>
            <a:r>
              <a:rPr sz="1200">
                <a:solidFill>
                  <a:srgbClr val="2C3E50"/>
                </a:solidFill>
                <a:latin typeface="Noto Sans KR Light"/>
              </a:rPr>
              <a:t/>
            </a:r>
          </a:p>
          <a:p>
            <a:pPr algn="l"/>
            <a:r>
              <a:rPr sz="1200">
                <a:solidFill>
                  <a:srgbClr val="2C3E50"/>
                </a:solidFill>
                <a:latin typeface="Noto Sans KR Light"/>
              </a:rPr>
              <a:t>• 공부한 내용을 노트로 저장</a:t>
            </a:r>
          </a:p>
          <a:p>
            <a:pPr algn="l"/>
            <a:r>
              <a:rPr sz="1200">
                <a:solidFill>
                  <a:srgbClr val="2C3E50"/>
                </a:solidFill>
                <a:latin typeface="Noto Sans KR Light"/>
              </a:rPr>
              <a:t>• 이해도 테스트 후 복습 날짜</a:t>
            </a:r>
          </a:p>
          <a:p>
            <a:pPr algn="l"/>
            <a:r>
              <a:rPr sz="1200">
                <a:solidFill>
                  <a:srgbClr val="2C3E50"/>
                </a:solidFill>
                <a:latin typeface="Noto Sans KR Light"/>
              </a:rPr>
              <a:t>  자동 계산</a:t>
            </a:r>
          </a:p>
          <a:p>
            <a:pPr algn="l"/>
            <a:r>
              <a:rPr sz="1200">
                <a:solidFill>
                  <a:srgbClr val="2C3E50"/>
                </a:solidFill>
                <a:latin typeface="Noto Sans KR Light"/>
              </a:rPr>
              <a:t>• 잘됨 → 3일 후</a:t>
            </a:r>
          </a:p>
          <a:p>
            <a:pPr algn="l"/>
            <a:r>
              <a:rPr sz="1200">
                <a:solidFill>
                  <a:srgbClr val="2C3E50"/>
                </a:solidFill>
                <a:latin typeface="Noto Sans KR Light"/>
              </a:rPr>
              <a:t>• 안됨 → 1일 후</a:t>
            </a:r>
          </a:p>
        </p:txBody>
      </p:sp>
      <p:sp>
        <p:nvSpPr>
          <p:cNvPr id="5" name="Rectangle 4"/>
          <p:cNvSpPr/>
          <p:nvPr/>
        </p:nvSpPr>
        <p:spPr>
          <a:xfrm>
            <a:off x="3268979" y="1188720"/>
            <a:ext cx="2651760" cy="502920"/>
          </a:xfrm>
          <a:prstGeom prst="rect">
            <a:avLst/>
          </a:prstGeom>
          <a:solidFill>
            <a:srgbClr val="7B6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NanumGothicExtraBold"/>
              </a:rPr>
              <a:t>프로젝트 이유</a:t>
            </a:r>
          </a:p>
        </p:txBody>
      </p:sp>
      <p:sp>
        <p:nvSpPr>
          <p:cNvPr id="6" name="Rectangle 5"/>
          <p:cNvSpPr/>
          <p:nvPr/>
        </p:nvSpPr>
        <p:spPr>
          <a:xfrm>
            <a:off x="3268979" y="1691640"/>
            <a:ext cx="2651760" cy="4251960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>
                <a:solidFill>
                  <a:srgbClr val="2C3E50"/>
                </a:solidFill>
                <a:latin typeface="Noto Sans KR Light"/>
              </a:rPr>
              <a:t>언제 복습해야 할지</a:t>
            </a:r>
          </a:p>
          <a:p>
            <a:pPr algn="l"/>
            <a:r>
              <a:rPr sz="1200">
                <a:solidFill>
                  <a:srgbClr val="2C3E50"/>
                </a:solidFill>
                <a:latin typeface="Noto Sans KR Light"/>
              </a:rPr>
              <a:t>스스로 판단하기 어렵다</a:t>
            </a:r>
          </a:p>
          <a:p>
            <a:pPr algn="l"/>
            <a:r>
              <a:rPr sz="1200">
                <a:solidFill>
                  <a:srgbClr val="2C3E50"/>
                </a:solidFill>
                <a:latin typeface="Noto Sans KR Light"/>
              </a:rPr>
              <a:t/>
            </a:r>
          </a:p>
          <a:p>
            <a:pPr algn="l"/>
            <a:r>
              <a:rPr sz="1200">
                <a:solidFill>
                  <a:srgbClr val="2C3E50"/>
                </a:solidFill>
                <a:latin typeface="Noto Sans KR Light"/>
              </a:rPr>
              <a:t>• 너무 빨리 → 시간 낭비</a:t>
            </a:r>
          </a:p>
          <a:p>
            <a:pPr algn="l"/>
            <a:r>
              <a:rPr sz="1200">
                <a:solidFill>
                  <a:srgbClr val="2C3E50"/>
                </a:solidFill>
                <a:latin typeface="Noto Sans KR Light"/>
              </a:rPr>
              <a:t>• 너무 늦게 → 이미 망각</a:t>
            </a:r>
          </a:p>
          <a:p>
            <a:pPr algn="l"/>
            <a:r>
              <a:rPr sz="1200">
                <a:solidFill>
                  <a:srgbClr val="2C3E50"/>
                </a:solidFill>
                <a:latin typeface="Noto Sans KR Light"/>
              </a:rPr>
              <a:t/>
            </a:r>
          </a:p>
          <a:p>
            <a:pPr algn="l"/>
            <a:r>
              <a:rPr sz="1200">
                <a:solidFill>
                  <a:srgbClr val="2C3E50"/>
                </a:solidFill>
                <a:latin typeface="Noto Sans KR Light"/>
              </a:rPr>
              <a:t>최적 복습 시점을</a:t>
            </a:r>
          </a:p>
          <a:p>
            <a:pPr algn="l"/>
            <a:r>
              <a:rPr sz="1200">
                <a:solidFill>
                  <a:srgbClr val="2C3E50"/>
                </a:solidFill>
                <a:latin typeface="Noto Sans KR Light"/>
              </a:rPr>
              <a:t>앱이 자동으로 계산</a:t>
            </a:r>
          </a:p>
        </p:txBody>
      </p:sp>
      <p:sp>
        <p:nvSpPr>
          <p:cNvPr id="7" name="Rectangle 6"/>
          <p:cNvSpPr/>
          <p:nvPr/>
        </p:nvSpPr>
        <p:spPr>
          <a:xfrm>
            <a:off x="6268212" y="1188720"/>
            <a:ext cx="2651760" cy="50292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NanumGothicExtraBold"/>
              </a:rPr>
              <a:t>오늘 산출물</a:t>
            </a:r>
          </a:p>
        </p:txBody>
      </p:sp>
      <p:sp>
        <p:nvSpPr>
          <p:cNvPr id="8" name="Rectangle 7"/>
          <p:cNvSpPr/>
          <p:nvPr/>
        </p:nvSpPr>
        <p:spPr>
          <a:xfrm>
            <a:off x="6268212" y="1691640"/>
            <a:ext cx="2651760" cy="4251960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>
                <a:solidFill>
                  <a:srgbClr val="2C3E50"/>
                </a:solidFill>
                <a:latin typeface="Noto Sans KR Light"/>
              </a:rPr>
              <a:t>ARD.md 작성 완료</a:t>
            </a:r>
          </a:p>
          <a:p>
            <a:pPr algn="l"/>
            <a:r>
              <a:rPr sz="1200">
                <a:solidFill>
                  <a:srgbClr val="2C3E50"/>
                </a:solidFill>
                <a:latin typeface="Noto Sans KR Light"/>
              </a:rPr>
              <a:t/>
            </a:r>
          </a:p>
          <a:p>
            <a:pPr algn="l"/>
            <a:r>
              <a:rPr sz="1200">
                <a:solidFill>
                  <a:srgbClr val="2C3E50"/>
                </a:solidFill>
                <a:latin typeface="Noto Sans KR Light"/>
              </a:rPr>
              <a:t>• 앱 목적 &amp; 타겟</a:t>
            </a:r>
          </a:p>
          <a:p>
            <a:pPr algn="l"/>
            <a:r>
              <a:rPr sz="1200">
                <a:solidFill>
                  <a:srgbClr val="2C3E50"/>
                </a:solidFill>
                <a:latin typeface="Noto Sans KR Light"/>
              </a:rPr>
              <a:t>• 주요 기능 5가지</a:t>
            </a:r>
          </a:p>
          <a:p>
            <a:pPr algn="l"/>
            <a:r>
              <a:rPr sz="1200">
                <a:solidFill>
                  <a:srgbClr val="2C3E50"/>
                </a:solidFill>
                <a:latin typeface="Noto Sans KR Light"/>
              </a:rPr>
              <a:t>• 사용자 흐름 4가지</a:t>
            </a:r>
          </a:p>
          <a:p>
            <a:pPr algn="l"/>
            <a:r>
              <a:rPr sz="1200">
                <a:solidFill>
                  <a:srgbClr val="2C3E50"/>
                </a:solidFill>
                <a:latin typeface="Noto Sans KR Light"/>
              </a:rPr>
              <a:t>• 화면 목록 8개</a:t>
            </a:r>
          </a:p>
          <a:p>
            <a:pPr algn="l"/>
            <a:r>
              <a:rPr sz="1200">
                <a:solidFill>
                  <a:srgbClr val="2C3E50"/>
                </a:solidFill>
                <a:latin typeface="Noto Sans KR Light"/>
              </a:rPr>
              <a:t>• 데이터 구조 정의</a:t>
            </a:r>
          </a:p>
        </p:txBody>
      </p:sp>
      <p:sp>
        <p:nvSpPr>
          <p:cNvPr id="9" name="Rectangle 8"/>
          <p:cNvSpPr/>
          <p:nvPr/>
        </p:nvSpPr>
        <p:spPr>
          <a:xfrm>
            <a:off x="9267444" y="1188720"/>
            <a:ext cx="2651760" cy="5029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NanumGothicExtraBold"/>
              </a:rPr>
              <a:t>저장 위치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67444" y="1691640"/>
            <a:ext cx="2651760" cy="4251960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>
                <a:solidFill>
                  <a:srgbClr val="2C3E50"/>
                </a:solidFill>
                <a:latin typeface="Noto Sans KR Light"/>
              </a:rPr>
              <a:t>📁 망각곡선/</a:t>
            </a:r>
          </a:p>
          <a:p>
            <a:pPr algn="l"/>
            <a:r>
              <a:rPr sz="1200">
                <a:solidFill>
                  <a:srgbClr val="2C3E50"/>
                </a:solidFill>
                <a:latin typeface="Noto Sans KR Light"/>
              </a:rPr>
              <a:t>└── ARD.md</a:t>
            </a:r>
          </a:p>
          <a:p>
            <a:pPr algn="l"/>
            <a:r>
              <a:rPr sz="1200">
                <a:solidFill>
                  <a:srgbClr val="2C3E50"/>
                </a:solidFill>
                <a:latin typeface="Noto Sans KR Light"/>
              </a:rPr>
              <a:t/>
            </a:r>
          </a:p>
          <a:p>
            <a:pPr algn="l"/>
            <a:r>
              <a:rPr sz="1200">
                <a:solidFill>
                  <a:srgbClr val="2C3E50"/>
                </a:solidFill>
                <a:latin typeface="Noto Sans KR Light"/>
              </a:rPr>
              <a:t>앱 요구사항 문서</a:t>
            </a:r>
          </a:p>
          <a:p>
            <a:pPr algn="l"/>
            <a:r>
              <a:rPr sz="1200">
                <a:solidFill>
                  <a:srgbClr val="2C3E50"/>
                </a:solidFill>
                <a:latin typeface="Noto Sans KR Light"/>
              </a:rPr>
              <a:t>(App Requirements Doc)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2600" b="1">
                <a:solidFill>
                  <a:srgbClr val="FFFFFF"/>
                </a:solidFill>
                <a:latin typeface="NanumGothicExtraBold"/>
              </a:rPr>
              <a:t>  1단계 — 프로젝트 세팅</a:t>
            </a:r>
          </a:p>
          <a:p>
            <a:pPr algn="l"/>
            <a:r>
              <a:rPr sz="1300">
                <a:solidFill>
                  <a:srgbClr val="AACCFF"/>
                </a:solidFill>
                <a:latin typeface="Noto Sans KR Light"/>
              </a:rPr>
              <a:t>  개발 환경 구성 및 폴더 구조 설계</a:t>
            </a:r>
          </a:p>
        </p:txBody>
      </p:sp>
      <p:sp>
        <p:nvSpPr>
          <p:cNvPr id="3" name="Rectangle 2"/>
          <p:cNvSpPr/>
          <p:nvPr/>
        </p:nvSpPr>
        <p:spPr>
          <a:xfrm>
            <a:off x="269747" y="1188720"/>
            <a:ext cx="2651760" cy="50292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NanumGothicExtraBold"/>
              </a:rPr>
              <a:t>핵심 개념</a:t>
            </a:r>
          </a:p>
        </p:txBody>
      </p:sp>
      <p:sp>
        <p:nvSpPr>
          <p:cNvPr id="4" name="Rectangle 3"/>
          <p:cNvSpPr/>
          <p:nvPr/>
        </p:nvSpPr>
        <p:spPr>
          <a:xfrm>
            <a:off x="269747" y="1691640"/>
            <a:ext cx="2651760" cy="4251960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>
                <a:solidFill>
                  <a:srgbClr val="2C3E50"/>
                </a:solidFill>
                <a:latin typeface="Noto Sans KR Light"/>
              </a:rPr>
              <a:t>Expo + TypeScript</a:t>
            </a:r>
          </a:p>
          <a:p>
            <a:pPr algn="l"/>
            <a:r>
              <a:rPr sz="1200">
                <a:solidFill>
                  <a:srgbClr val="2C3E50"/>
                </a:solidFill>
                <a:latin typeface="Noto Sans KR Light"/>
              </a:rPr>
              <a:t>프로젝트 초기화</a:t>
            </a:r>
          </a:p>
          <a:p>
            <a:pPr algn="l"/>
            <a:r>
              <a:rPr sz="1200">
                <a:solidFill>
                  <a:srgbClr val="2C3E50"/>
                </a:solidFill>
                <a:latin typeface="Noto Sans KR Light"/>
              </a:rPr>
              <a:t/>
            </a:r>
          </a:p>
          <a:p>
            <a:pPr algn="l"/>
            <a:r>
              <a:rPr sz="1200">
                <a:solidFill>
                  <a:srgbClr val="2C3E50"/>
                </a:solidFill>
                <a:latin typeface="Noto Sans KR Light"/>
              </a:rPr>
              <a:t>• Expo Router 기반</a:t>
            </a:r>
          </a:p>
          <a:p>
            <a:pPr algn="l"/>
            <a:r>
              <a:rPr sz="1200">
                <a:solidFill>
                  <a:srgbClr val="2C3E50"/>
                </a:solidFill>
                <a:latin typeface="Noto Sans KR Light"/>
              </a:rPr>
              <a:t>  파일 = 화면 구조</a:t>
            </a:r>
          </a:p>
          <a:p>
            <a:pPr algn="l"/>
            <a:r>
              <a:rPr sz="1200">
                <a:solidFill>
                  <a:srgbClr val="2C3E50"/>
                </a:solidFill>
                <a:latin typeface="Noto Sans KR Light"/>
              </a:rPr>
              <a:t>• 폴더별 역할 분리</a:t>
            </a:r>
          </a:p>
          <a:p>
            <a:pPr algn="l"/>
            <a:r>
              <a:rPr sz="1200">
                <a:solidFill>
                  <a:srgbClr val="2C3E50"/>
                </a:solidFill>
                <a:latin typeface="Noto Sans KR Light"/>
              </a:rPr>
              <a:t>  app / services /</a:t>
            </a:r>
          </a:p>
          <a:p>
            <a:pPr algn="l"/>
            <a:r>
              <a:rPr sz="1200">
                <a:solidFill>
                  <a:srgbClr val="2C3E50"/>
                </a:solidFill>
                <a:latin typeface="Noto Sans KR Light"/>
              </a:rPr>
              <a:t>  utils / types</a:t>
            </a:r>
          </a:p>
        </p:txBody>
      </p:sp>
      <p:sp>
        <p:nvSpPr>
          <p:cNvPr id="5" name="Rectangle 4"/>
          <p:cNvSpPr/>
          <p:nvPr/>
        </p:nvSpPr>
        <p:spPr>
          <a:xfrm>
            <a:off x="3268979" y="1188720"/>
            <a:ext cx="2651760" cy="502920"/>
          </a:xfrm>
          <a:prstGeom prst="rect">
            <a:avLst/>
          </a:prstGeom>
          <a:solidFill>
            <a:srgbClr val="7B6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NanumGothicExtraBold"/>
              </a:rPr>
              <a:t>프로젝트 이유</a:t>
            </a:r>
          </a:p>
        </p:txBody>
      </p:sp>
      <p:sp>
        <p:nvSpPr>
          <p:cNvPr id="6" name="Rectangle 5"/>
          <p:cNvSpPr/>
          <p:nvPr/>
        </p:nvSpPr>
        <p:spPr>
          <a:xfrm>
            <a:off x="3268979" y="1691640"/>
            <a:ext cx="2651760" cy="4251960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>
                <a:solidFill>
                  <a:srgbClr val="2C3E50"/>
                </a:solidFill>
                <a:latin typeface="Noto Sans KR Light"/>
              </a:rPr>
              <a:t>빠른 시작 &amp; 유지보수</a:t>
            </a:r>
          </a:p>
          <a:p>
            <a:pPr algn="l"/>
            <a:r>
              <a:rPr sz="1200">
                <a:solidFill>
                  <a:srgbClr val="2C3E50"/>
                </a:solidFill>
                <a:latin typeface="Noto Sans KR Light"/>
              </a:rPr>
              <a:t>용이한 구조 필요</a:t>
            </a:r>
          </a:p>
          <a:p>
            <a:pPr algn="l"/>
            <a:r>
              <a:rPr sz="1200">
                <a:solidFill>
                  <a:srgbClr val="2C3E50"/>
                </a:solidFill>
                <a:latin typeface="Noto Sans KR Light"/>
              </a:rPr>
              <a:t/>
            </a:r>
          </a:p>
          <a:p>
            <a:pPr algn="l"/>
            <a:r>
              <a:rPr sz="1200">
                <a:solidFill>
                  <a:srgbClr val="2C3E50"/>
                </a:solidFill>
                <a:latin typeface="Noto Sans KR Light"/>
              </a:rPr>
              <a:t>• Expo: 윈도우에서도</a:t>
            </a:r>
          </a:p>
          <a:p>
            <a:pPr algn="l"/>
            <a:r>
              <a:rPr sz="1200">
                <a:solidFill>
                  <a:srgbClr val="2C3E50"/>
                </a:solidFill>
                <a:latin typeface="Noto Sans KR Light"/>
              </a:rPr>
              <a:t>  iOS/Android 개발 가능</a:t>
            </a:r>
          </a:p>
          <a:p>
            <a:pPr algn="l"/>
            <a:r>
              <a:rPr sz="1200">
                <a:solidFill>
                  <a:srgbClr val="2C3E50"/>
                </a:solidFill>
                <a:latin typeface="Noto Sans KR Light"/>
              </a:rPr>
              <a:t>• 폴더 분리: 화면과</a:t>
            </a:r>
          </a:p>
          <a:p>
            <a:pPr algn="l"/>
            <a:r>
              <a:rPr sz="1200">
                <a:solidFill>
                  <a:srgbClr val="2C3E50"/>
                </a:solidFill>
                <a:latin typeface="Noto Sans KR Light"/>
              </a:rPr>
              <a:t>  데이터 로직 분리로</a:t>
            </a:r>
          </a:p>
          <a:p>
            <a:pPr algn="l"/>
            <a:r>
              <a:rPr sz="1200">
                <a:solidFill>
                  <a:srgbClr val="2C3E50"/>
                </a:solidFill>
                <a:latin typeface="Noto Sans KR Light"/>
              </a:rPr>
              <a:t>  코드 가독성 향상</a:t>
            </a:r>
          </a:p>
        </p:txBody>
      </p:sp>
      <p:sp>
        <p:nvSpPr>
          <p:cNvPr id="7" name="Rectangle 6"/>
          <p:cNvSpPr/>
          <p:nvPr/>
        </p:nvSpPr>
        <p:spPr>
          <a:xfrm>
            <a:off x="6268212" y="1188720"/>
            <a:ext cx="2651760" cy="50292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NanumGothicExtraBold"/>
              </a:rPr>
              <a:t>오늘 산출물</a:t>
            </a:r>
          </a:p>
        </p:txBody>
      </p:sp>
      <p:sp>
        <p:nvSpPr>
          <p:cNvPr id="8" name="Rectangle 7"/>
          <p:cNvSpPr/>
          <p:nvPr/>
        </p:nvSpPr>
        <p:spPr>
          <a:xfrm>
            <a:off x="6268212" y="1691640"/>
            <a:ext cx="2651760" cy="4251960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>
                <a:solidFill>
                  <a:srgbClr val="2C3E50"/>
                </a:solidFill>
                <a:latin typeface="Noto Sans KR Light"/>
              </a:rPr>
              <a:t>프로젝트 뼈대 완성</a:t>
            </a:r>
          </a:p>
          <a:p>
            <a:pPr algn="l"/>
            <a:r>
              <a:rPr sz="1200">
                <a:solidFill>
                  <a:srgbClr val="2C3E50"/>
                </a:solidFill>
                <a:latin typeface="Noto Sans KR Light"/>
              </a:rPr>
              <a:t/>
            </a:r>
          </a:p>
          <a:p>
            <a:pPr algn="l"/>
            <a:r>
              <a:rPr sz="1200">
                <a:solidFill>
                  <a:srgbClr val="2C3E50"/>
                </a:solidFill>
                <a:latin typeface="Noto Sans KR Light"/>
              </a:rPr>
              <a:t>• forgetting-curve/</a:t>
            </a:r>
          </a:p>
          <a:p>
            <a:pPr algn="l"/>
            <a:r>
              <a:rPr sz="1200">
                <a:solidFill>
                  <a:srgbClr val="2C3E50"/>
                </a:solidFill>
                <a:latin typeface="Noto Sans KR Light"/>
              </a:rPr>
              <a:t>  프로젝트 생성</a:t>
            </a:r>
          </a:p>
          <a:p>
            <a:pPr algn="l"/>
            <a:r>
              <a:rPr sz="1200">
                <a:solidFill>
                  <a:srgbClr val="2C3E50"/>
                </a:solidFill>
                <a:latin typeface="Noto Sans KR Light"/>
              </a:rPr>
              <a:t>• 6개 라이브러리 설치</a:t>
            </a:r>
          </a:p>
          <a:p>
            <a:pPr algn="l"/>
            <a:r>
              <a:rPr sz="1200">
                <a:solidFill>
                  <a:srgbClr val="2C3E50"/>
                </a:solidFill>
                <a:latin typeface="Noto Sans KR Light"/>
              </a:rPr>
              <a:t>• Expo Router 세팅</a:t>
            </a:r>
          </a:p>
          <a:p>
            <a:pPr algn="l"/>
            <a:r>
              <a:rPr sz="1200">
                <a:solidFill>
                  <a:srgbClr val="2C3E50"/>
                </a:solidFill>
                <a:latin typeface="Noto Sans KR Light"/>
              </a:rPr>
              <a:t>• 폴더 구조 생성</a:t>
            </a:r>
          </a:p>
        </p:txBody>
      </p:sp>
      <p:sp>
        <p:nvSpPr>
          <p:cNvPr id="9" name="Rectangle 8"/>
          <p:cNvSpPr/>
          <p:nvPr/>
        </p:nvSpPr>
        <p:spPr>
          <a:xfrm>
            <a:off x="9267444" y="1188720"/>
            <a:ext cx="2651760" cy="5029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NanumGothicExtraBold"/>
              </a:rPr>
              <a:t>저장 위치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67444" y="1691640"/>
            <a:ext cx="2651760" cy="4251960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>
                <a:solidFill>
                  <a:srgbClr val="2C3E50"/>
                </a:solidFill>
                <a:latin typeface="Noto Sans KR Light"/>
              </a:rPr>
              <a:t>📁 forgetting-curve/</a:t>
            </a:r>
          </a:p>
          <a:p>
            <a:pPr algn="l"/>
            <a:r>
              <a:rPr sz="1200">
                <a:solidFill>
                  <a:srgbClr val="2C3E50"/>
                </a:solidFill>
                <a:latin typeface="Noto Sans KR Light"/>
              </a:rPr>
              <a:t>├── package.json</a:t>
            </a:r>
          </a:p>
          <a:p>
            <a:pPr algn="l"/>
            <a:r>
              <a:rPr sz="1200">
                <a:solidFill>
                  <a:srgbClr val="2C3E50"/>
                </a:solidFill>
                <a:latin typeface="Noto Sans KR Light"/>
              </a:rPr>
              <a:t>├── app.json</a:t>
            </a:r>
          </a:p>
          <a:p>
            <a:pPr algn="l"/>
            <a:r>
              <a:rPr sz="1200">
                <a:solidFill>
                  <a:srgbClr val="2C3E50"/>
                </a:solidFill>
                <a:latin typeface="Noto Sans KR Light"/>
              </a:rPr>
              <a:t>└── app/_layout.tsx</a:t>
            </a:r>
          </a:p>
          <a:p>
            <a:pPr algn="l"/>
            <a:r>
              <a:rPr sz="1200">
                <a:solidFill>
                  <a:srgbClr val="2C3E50"/>
                </a:solidFill>
                <a:latin typeface="Noto Sans KR Light"/>
              </a:rPr>
              <a:t/>
            </a:r>
          </a:p>
          <a:p>
            <a:pPr algn="l"/>
            <a:r>
              <a:rPr sz="1200">
                <a:solidFill>
                  <a:srgbClr val="2C3E50"/>
                </a:solidFill>
                <a:latin typeface="Noto Sans KR Light"/>
              </a:rPr>
              <a:t>개발일지.md</a:t>
            </a:r>
          </a:p>
          <a:p>
            <a:pPr algn="l"/>
            <a:r>
              <a:rPr sz="1200">
                <a:solidFill>
                  <a:srgbClr val="2C3E50"/>
                </a:solidFill>
                <a:latin typeface="Noto Sans KR Light"/>
              </a:rPr>
              <a:t>1단계 섹션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2600" b="1">
                <a:solidFill>
                  <a:srgbClr val="FFFFFF"/>
                </a:solidFill>
                <a:latin typeface="NanumGothicExtraBold"/>
              </a:rPr>
              <a:t>  2단계 — 인증 구현</a:t>
            </a:r>
          </a:p>
          <a:p>
            <a:pPr algn="l"/>
            <a:r>
              <a:rPr sz="1300">
                <a:solidFill>
                  <a:srgbClr val="AACCFF"/>
                </a:solidFill>
                <a:latin typeface="Noto Sans KR Light"/>
              </a:rPr>
              <a:t>  Firebase Auth 기반 이메일 로그인 / 회원가입</a:t>
            </a:r>
          </a:p>
        </p:txBody>
      </p:sp>
      <p:sp>
        <p:nvSpPr>
          <p:cNvPr id="3" name="Rectangle 2"/>
          <p:cNvSpPr/>
          <p:nvPr/>
        </p:nvSpPr>
        <p:spPr>
          <a:xfrm>
            <a:off x="269747" y="1188720"/>
            <a:ext cx="2651760" cy="50292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NanumGothicExtraBold"/>
              </a:rPr>
              <a:t>핵심 개념</a:t>
            </a:r>
          </a:p>
        </p:txBody>
      </p:sp>
      <p:sp>
        <p:nvSpPr>
          <p:cNvPr id="4" name="Rectangle 3"/>
          <p:cNvSpPr/>
          <p:nvPr/>
        </p:nvSpPr>
        <p:spPr>
          <a:xfrm>
            <a:off x="269747" y="1691640"/>
            <a:ext cx="2651760" cy="4251960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>
                <a:solidFill>
                  <a:srgbClr val="2C3E50"/>
                </a:solidFill>
                <a:latin typeface="Noto Sans KR Light"/>
              </a:rPr>
              <a:t>Firebase Authentication</a:t>
            </a:r>
          </a:p>
          <a:p>
            <a:pPr algn="l"/>
            <a:r>
              <a:rPr sz="1200">
                <a:solidFill>
                  <a:srgbClr val="2C3E50"/>
                </a:solidFill>
                <a:latin typeface="Noto Sans KR Light"/>
              </a:rPr>
              <a:t>이메일 로그인</a:t>
            </a:r>
          </a:p>
          <a:p>
            <a:pPr algn="l"/>
            <a:r>
              <a:rPr sz="1200">
                <a:solidFill>
                  <a:srgbClr val="2C3E50"/>
                </a:solidFill>
                <a:latin typeface="Noto Sans KR Light"/>
              </a:rPr>
              <a:t/>
            </a:r>
          </a:p>
          <a:p>
            <a:pPr algn="l"/>
            <a:r>
              <a:rPr sz="1200">
                <a:solidFill>
                  <a:srgbClr val="2C3E50"/>
                </a:solidFill>
                <a:latin typeface="Noto Sans KR Light"/>
              </a:rPr>
              <a:t>• 로그인 / 회원가입 화면</a:t>
            </a:r>
          </a:p>
          <a:p>
            <a:pPr algn="l"/>
            <a:r>
              <a:rPr sz="1200">
                <a:solidFill>
                  <a:srgbClr val="2C3E50"/>
                </a:solidFill>
                <a:latin typeface="Noto Sans KR Light"/>
              </a:rPr>
              <a:t>• 로그인 상태 유지</a:t>
            </a:r>
          </a:p>
          <a:p>
            <a:pPr algn="l"/>
            <a:r>
              <a:rPr sz="1200">
                <a:solidFill>
                  <a:srgbClr val="2C3E50"/>
                </a:solidFill>
                <a:latin typeface="Noto Sans KR Light"/>
              </a:rPr>
              <a:t>  (앱 재시작 후에도)</a:t>
            </a:r>
          </a:p>
          <a:p>
            <a:pPr algn="l"/>
            <a:r>
              <a:rPr sz="1200">
                <a:solidFill>
                  <a:srgbClr val="2C3E50"/>
                </a:solidFill>
                <a:latin typeface="Noto Sans KR Light"/>
              </a:rPr>
              <a:t>• 미인증 시 자동으로</a:t>
            </a:r>
          </a:p>
          <a:p>
            <a:pPr algn="l"/>
            <a:r>
              <a:rPr sz="1200">
                <a:solidFill>
                  <a:srgbClr val="2C3E50"/>
                </a:solidFill>
                <a:latin typeface="Noto Sans KR Light"/>
              </a:rPr>
              <a:t>  로그인 화면 이동</a:t>
            </a:r>
          </a:p>
        </p:txBody>
      </p:sp>
      <p:sp>
        <p:nvSpPr>
          <p:cNvPr id="5" name="Rectangle 4"/>
          <p:cNvSpPr/>
          <p:nvPr/>
        </p:nvSpPr>
        <p:spPr>
          <a:xfrm>
            <a:off x="3268979" y="1188720"/>
            <a:ext cx="2651760" cy="502920"/>
          </a:xfrm>
          <a:prstGeom prst="rect">
            <a:avLst/>
          </a:prstGeom>
          <a:solidFill>
            <a:srgbClr val="7B6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NanumGothicExtraBold"/>
              </a:rPr>
              <a:t>프로젝트 이유</a:t>
            </a:r>
          </a:p>
        </p:txBody>
      </p:sp>
      <p:sp>
        <p:nvSpPr>
          <p:cNvPr id="6" name="Rectangle 5"/>
          <p:cNvSpPr/>
          <p:nvPr/>
        </p:nvSpPr>
        <p:spPr>
          <a:xfrm>
            <a:off x="3268979" y="1691640"/>
            <a:ext cx="2651760" cy="4251960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>
                <a:solidFill>
                  <a:srgbClr val="2C3E50"/>
                </a:solidFill>
                <a:latin typeface="Noto Sans KR Light"/>
              </a:rPr>
              <a:t>사용자별 데이터 분리</a:t>
            </a:r>
          </a:p>
          <a:p>
            <a:pPr algn="l"/>
            <a:r>
              <a:rPr sz="1200">
                <a:solidFill>
                  <a:srgbClr val="2C3E50"/>
                </a:solidFill>
                <a:latin typeface="Noto Sans KR Light"/>
              </a:rPr>
              <a:t>필요</a:t>
            </a:r>
          </a:p>
          <a:p>
            <a:pPr algn="l"/>
            <a:r>
              <a:rPr sz="1200">
                <a:solidFill>
                  <a:srgbClr val="2C3E50"/>
                </a:solidFill>
                <a:latin typeface="Noto Sans KR Light"/>
              </a:rPr>
              <a:t/>
            </a:r>
          </a:p>
          <a:p>
            <a:pPr algn="l"/>
            <a:r>
              <a:rPr sz="1200">
                <a:solidFill>
                  <a:srgbClr val="2C3E50"/>
                </a:solidFill>
                <a:latin typeface="Noto Sans KR Light"/>
              </a:rPr>
              <a:t>• 노트 / 복습 기록이</a:t>
            </a:r>
          </a:p>
          <a:p>
            <a:pPr algn="l"/>
            <a:r>
              <a:rPr sz="1200">
                <a:solidFill>
                  <a:srgbClr val="2C3E50"/>
                </a:solidFill>
                <a:latin typeface="Noto Sans KR Light"/>
              </a:rPr>
              <a:t>  본인 것만 보여야 함</a:t>
            </a:r>
          </a:p>
          <a:p>
            <a:pPr algn="l"/>
            <a:r>
              <a:rPr sz="1200">
                <a:solidFill>
                  <a:srgbClr val="2C3E50"/>
                </a:solidFill>
                <a:latin typeface="Noto Sans KR Light"/>
              </a:rPr>
              <a:t>• 직접 서버 없이</a:t>
            </a:r>
          </a:p>
          <a:p>
            <a:pPr algn="l"/>
            <a:r>
              <a:rPr sz="1200">
                <a:solidFill>
                  <a:srgbClr val="2C3E50"/>
                </a:solidFill>
                <a:latin typeface="Noto Sans KR Light"/>
              </a:rPr>
              <a:t>  Firebase로 5줄 구현</a:t>
            </a:r>
          </a:p>
        </p:txBody>
      </p:sp>
      <p:sp>
        <p:nvSpPr>
          <p:cNvPr id="7" name="Rectangle 6"/>
          <p:cNvSpPr/>
          <p:nvPr/>
        </p:nvSpPr>
        <p:spPr>
          <a:xfrm>
            <a:off x="6268212" y="1188720"/>
            <a:ext cx="2651760" cy="50292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NanumGothicExtraBold"/>
              </a:rPr>
              <a:t>오늘 산출물</a:t>
            </a:r>
          </a:p>
        </p:txBody>
      </p:sp>
      <p:sp>
        <p:nvSpPr>
          <p:cNvPr id="8" name="Rectangle 7"/>
          <p:cNvSpPr/>
          <p:nvPr/>
        </p:nvSpPr>
        <p:spPr>
          <a:xfrm>
            <a:off x="6268212" y="1691640"/>
            <a:ext cx="2651760" cy="4251960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>
                <a:solidFill>
                  <a:srgbClr val="2C3E50"/>
                </a:solidFill>
                <a:latin typeface="Noto Sans KR Light"/>
              </a:rPr>
              <a:t>로그인 화면 완성</a:t>
            </a:r>
          </a:p>
          <a:p>
            <a:pPr algn="l"/>
            <a:r>
              <a:rPr sz="1200">
                <a:solidFill>
                  <a:srgbClr val="2C3E50"/>
                </a:solidFill>
                <a:latin typeface="Noto Sans KR Light"/>
              </a:rPr>
              <a:t/>
            </a:r>
          </a:p>
          <a:p>
            <a:pPr algn="l"/>
            <a:r>
              <a:rPr sz="1200">
                <a:solidFill>
                  <a:srgbClr val="2C3E50"/>
                </a:solidFill>
                <a:latin typeface="Noto Sans KR Light"/>
              </a:rPr>
              <a:t>• login.tsx</a:t>
            </a:r>
          </a:p>
          <a:p>
            <a:pPr algn="l"/>
            <a:r>
              <a:rPr sz="1200">
                <a:solidFill>
                  <a:srgbClr val="2C3E50"/>
                </a:solidFill>
                <a:latin typeface="Noto Sans KR Light"/>
              </a:rPr>
              <a:t>• signup.tsx</a:t>
            </a:r>
          </a:p>
          <a:p>
            <a:pPr algn="l"/>
            <a:r>
              <a:rPr sz="1200">
                <a:solidFill>
                  <a:srgbClr val="2C3E50"/>
                </a:solidFill>
                <a:latin typeface="Noto Sans KR Light"/>
              </a:rPr>
              <a:t>• services/auth.ts</a:t>
            </a:r>
          </a:p>
          <a:p>
            <a:pPr algn="l"/>
            <a:r>
              <a:rPr sz="1200">
                <a:solidFill>
                  <a:srgbClr val="2C3E50"/>
                </a:solidFill>
                <a:latin typeface="Noto Sans KR Light"/>
              </a:rPr>
              <a:t>• 유효성 검사 포함</a:t>
            </a:r>
          </a:p>
          <a:p>
            <a:pPr algn="l"/>
            <a:r>
              <a:rPr sz="1200">
                <a:solidFill>
                  <a:srgbClr val="2C3E50"/>
                </a:solidFill>
                <a:latin typeface="Noto Sans KR Light"/>
              </a:rPr>
              <a:t>  (빈칸, 비번 6자 이상,</a:t>
            </a:r>
          </a:p>
          <a:p>
            <a:pPr algn="l"/>
            <a:r>
              <a:rPr sz="1200">
                <a:solidFill>
                  <a:srgbClr val="2C3E50"/>
                </a:solidFill>
                <a:latin typeface="Noto Sans KR Light"/>
              </a:rPr>
              <a:t>   비번 확인 일치)</a:t>
            </a:r>
          </a:p>
        </p:txBody>
      </p:sp>
      <p:sp>
        <p:nvSpPr>
          <p:cNvPr id="9" name="Rectangle 8"/>
          <p:cNvSpPr/>
          <p:nvPr/>
        </p:nvSpPr>
        <p:spPr>
          <a:xfrm>
            <a:off x="9267444" y="1188720"/>
            <a:ext cx="2651760" cy="5029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NanumGothicExtraBold"/>
              </a:rPr>
              <a:t>저장 위치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67444" y="1691640"/>
            <a:ext cx="2651760" cy="4251960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>
                <a:solidFill>
                  <a:srgbClr val="2C3E50"/>
                </a:solidFill>
                <a:latin typeface="Noto Sans KR Light"/>
              </a:rPr>
              <a:t>📁 app/(auth)/</a:t>
            </a:r>
          </a:p>
          <a:p>
            <a:pPr algn="l"/>
            <a:r>
              <a:rPr sz="1200">
                <a:solidFill>
                  <a:srgbClr val="2C3E50"/>
                </a:solidFill>
                <a:latin typeface="Noto Sans KR Light"/>
              </a:rPr>
              <a:t>├── _layout.tsx</a:t>
            </a:r>
          </a:p>
          <a:p>
            <a:pPr algn="l"/>
            <a:r>
              <a:rPr sz="1200">
                <a:solidFill>
                  <a:srgbClr val="2C3E50"/>
                </a:solidFill>
                <a:latin typeface="Noto Sans KR Light"/>
              </a:rPr>
              <a:t>├── login.tsx</a:t>
            </a:r>
          </a:p>
          <a:p>
            <a:pPr algn="l"/>
            <a:r>
              <a:rPr sz="1200">
                <a:solidFill>
                  <a:srgbClr val="2C3E50"/>
                </a:solidFill>
                <a:latin typeface="Noto Sans KR Light"/>
              </a:rPr>
              <a:t>└── signup.tsx</a:t>
            </a:r>
          </a:p>
          <a:p>
            <a:pPr algn="l"/>
            <a:r>
              <a:rPr sz="1200">
                <a:solidFill>
                  <a:srgbClr val="2C3E50"/>
                </a:solidFill>
                <a:latin typeface="Noto Sans KR Light"/>
              </a:rPr>
              <a:t/>
            </a:r>
          </a:p>
          <a:p>
            <a:pPr algn="l"/>
            <a:r>
              <a:rPr sz="1200">
                <a:solidFill>
                  <a:srgbClr val="2C3E50"/>
                </a:solidFill>
                <a:latin typeface="Noto Sans KR Light"/>
              </a:rPr>
              <a:t>📁 services/</a:t>
            </a:r>
          </a:p>
          <a:p>
            <a:pPr algn="l"/>
            <a:r>
              <a:rPr sz="1200">
                <a:solidFill>
                  <a:srgbClr val="2C3E50"/>
                </a:solidFill>
                <a:latin typeface="Noto Sans KR Light"/>
              </a:rPr>
              <a:t>└── auth.ts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2600" b="1">
                <a:solidFill>
                  <a:srgbClr val="FFFFFF"/>
                </a:solidFill>
                <a:latin typeface="NanumGothicExtraBold"/>
              </a:rPr>
              <a:t>  3단계 — 핵심 기능 (진행 중)</a:t>
            </a:r>
          </a:p>
          <a:p>
            <a:pPr algn="l"/>
            <a:r>
              <a:rPr sz="1300">
                <a:solidFill>
                  <a:srgbClr val="AACCFF"/>
                </a:solidFill>
                <a:latin typeface="Noto Sans KR Light"/>
              </a:rPr>
              <a:t>  노트 작성 + 홈 화면 (오늘 복습 목록)</a:t>
            </a:r>
          </a:p>
        </p:txBody>
      </p:sp>
      <p:sp>
        <p:nvSpPr>
          <p:cNvPr id="3" name="Rectangle 2"/>
          <p:cNvSpPr/>
          <p:nvPr/>
        </p:nvSpPr>
        <p:spPr>
          <a:xfrm>
            <a:off x="269747" y="1188720"/>
            <a:ext cx="2651760" cy="50292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NanumGothicExtraBold"/>
              </a:rPr>
              <a:t>핵심 개념</a:t>
            </a:r>
          </a:p>
        </p:txBody>
      </p:sp>
      <p:sp>
        <p:nvSpPr>
          <p:cNvPr id="4" name="Rectangle 3"/>
          <p:cNvSpPr/>
          <p:nvPr/>
        </p:nvSpPr>
        <p:spPr>
          <a:xfrm>
            <a:off x="269747" y="1691640"/>
            <a:ext cx="2651760" cy="4251960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>
                <a:solidFill>
                  <a:srgbClr val="2C3E50"/>
                </a:solidFill>
                <a:latin typeface="Noto Sans KR Light"/>
              </a:rPr>
              <a:t>노트 저장 &amp;</a:t>
            </a:r>
          </a:p>
          <a:p>
            <a:pPr algn="l"/>
            <a:r>
              <a:rPr sz="1200">
                <a:solidFill>
                  <a:srgbClr val="2C3E50"/>
                </a:solidFill>
                <a:latin typeface="Noto Sans KR Light"/>
              </a:rPr>
              <a:t>복습 일정 자동 계산</a:t>
            </a:r>
          </a:p>
          <a:p>
            <a:pPr algn="l"/>
            <a:r>
              <a:rPr sz="1200">
                <a:solidFill>
                  <a:srgbClr val="2C3E50"/>
                </a:solidFill>
                <a:latin typeface="Noto Sans KR Light"/>
              </a:rPr>
              <a:t/>
            </a:r>
          </a:p>
          <a:p>
            <a:pPr algn="l"/>
            <a:r>
              <a:rPr sz="1200">
                <a:solidFill>
                  <a:srgbClr val="2C3E50"/>
                </a:solidFill>
                <a:latin typeface="Noto Sans KR Light"/>
              </a:rPr>
              <a:t>• 노트 작성 시</a:t>
            </a:r>
          </a:p>
          <a:p>
            <a:pPr algn="l"/>
            <a:r>
              <a:rPr sz="1200">
                <a:solidFill>
                  <a:srgbClr val="2C3E50"/>
                </a:solidFill>
                <a:latin typeface="Noto Sans KR Light"/>
              </a:rPr>
              <a:t>  1일 후 복습 자동 설정</a:t>
            </a:r>
          </a:p>
          <a:p>
            <a:pPr algn="l"/>
            <a:r>
              <a:rPr sz="1200">
                <a:solidFill>
                  <a:srgbClr val="2C3E50"/>
                </a:solidFill>
                <a:latin typeface="Noto Sans KR Light"/>
              </a:rPr>
              <a:t>• 홈 화면에서</a:t>
            </a:r>
          </a:p>
          <a:p>
            <a:pPr algn="l"/>
            <a:r>
              <a:rPr sz="1200">
                <a:solidFill>
                  <a:srgbClr val="2C3E50"/>
                </a:solidFill>
                <a:latin typeface="Noto Sans KR Light"/>
              </a:rPr>
              <a:t>  오늘 복습 목록 표시</a:t>
            </a:r>
          </a:p>
          <a:p>
            <a:pPr algn="l"/>
            <a:r>
              <a:rPr sz="1200">
                <a:solidFill>
                  <a:srgbClr val="2C3E50"/>
                </a:solidFill>
                <a:latin typeface="Noto Sans KR Light"/>
              </a:rPr>
              <a:t>• Firestore에 저장</a:t>
            </a:r>
          </a:p>
        </p:txBody>
      </p:sp>
      <p:sp>
        <p:nvSpPr>
          <p:cNvPr id="5" name="Rectangle 4"/>
          <p:cNvSpPr/>
          <p:nvPr/>
        </p:nvSpPr>
        <p:spPr>
          <a:xfrm>
            <a:off x="3268979" y="1188720"/>
            <a:ext cx="2651760" cy="502920"/>
          </a:xfrm>
          <a:prstGeom prst="rect">
            <a:avLst/>
          </a:prstGeom>
          <a:solidFill>
            <a:srgbClr val="7B6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NanumGothicExtraBold"/>
              </a:rPr>
              <a:t>프로젝트 이유</a:t>
            </a:r>
          </a:p>
        </p:txBody>
      </p:sp>
      <p:sp>
        <p:nvSpPr>
          <p:cNvPr id="6" name="Rectangle 5"/>
          <p:cNvSpPr/>
          <p:nvPr/>
        </p:nvSpPr>
        <p:spPr>
          <a:xfrm>
            <a:off x="3268979" y="1691640"/>
            <a:ext cx="2651760" cy="4251960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>
                <a:solidFill>
                  <a:srgbClr val="2C3E50"/>
                </a:solidFill>
                <a:latin typeface="Noto Sans KR Light"/>
              </a:rPr>
              <a:t>앱의 핵심 가치 구현</a:t>
            </a:r>
          </a:p>
          <a:p>
            <a:pPr algn="l"/>
            <a:r>
              <a:rPr sz="1200">
                <a:solidFill>
                  <a:srgbClr val="2C3E50"/>
                </a:solidFill>
                <a:latin typeface="Noto Sans KR Light"/>
              </a:rPr>
              <a:t/>
            </a:r>
          </a:p>
          <a:p>
            <a:pPr algn="l"/>
            <a:r>
              <a:rPr sz="1200">
                <a:solidFill>
                  <a:srgbClr val="2C3E50"/>
                </a:solidFill>
                <a:latin typeface="Noto Sans KR Light"/>
              </a:rPr>
              <a:t>• '언제 복습해야 하나'</a:t>
            </a:r>
          </a:p>
          <a:p>
            <a:pPr algn="l"/>
            <a:r>
              <a:rPr sz="1200">
                <a:solidFill>
                  <a:srgbClr val="2C3E50"/>
                </a:solidFill>
                <a:latin typeface="Noto Sans KR Light"/>
              </a:rPr>
              <a:t>  고민 없이 자동 계산</a:t>
            </a:r>
          </a:p>
          <a:p>
            <a:pPr algn="l"/>
            <a:r>
              <a:rPr sz="1200">
                <a:solidFill>
                  <a:srgbClr val="2C3E50"/>
                </a:solidFill>
                <a:latin typeface="Noto Sans KR Light"/>
              </a:rPr>
              <a:t>• 노트 없이는 복습도</a:t>
            </a:r>
          </a:p>
          <a:p>
            <a:pPr algn="l"/>
            <a:r>
              <a:rPr sz="1200">
                <a:solidFill>
                  <a:srgbClr val="2C3E50"/>
                </a:solidFill>
                <a:latin typeface="Noto Sans KR Light"/>
              </a:rPr>
              <a:t>  없으므로 가장 먼저</a:t>
            </a:r>
          </a:p>
          <a:p>
            <a:pPr algn="l"/>
            <a:r>
              <a:rPr sz="1200">
                <a:solidFill>
                  <a:srgbClr val="2C3E50"/>
                </a:solidFill>
                <a:latin typeface="Noto Sans KR Light"/>
              </a:rPr>
              <a:t>  구현</a:t>
            </a:r>
          </a:p>
        </p:txBody>
      </p:sp>
      <p:sp>
        <p:nvSpPr>
          <p:cNvPr id="7" name="Rectangle 6"/>
          <p:cNvSpPr/>
          <p:nvPr/>
        </p:nvSpPr>
        <p:spPr>
          <a:xfrm>
            <a:off x="6268212" y="1188720"/>
            <a:ext cx="2651760" cy="50292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NanumGothicExtraBold"/>
              </a:rPr>
              <a:t>오늘 산출물</a:t>
            </a:r>
          </a:p>
        </p:txBody>
      </p:sp>
      <p:sp>
        <p:nvSpPr>
          <p:cNvPr id="8" name="Rectangle 7"/>
          <p:cNvSpPr/>
          <p:nvPr/>
        </p:nvSpPr>
        <p:spPr>
          <a:xfrm>
            <a:off x="6268212" y="1691640"/>
            <a:ext cx="2651760" cy="4251960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>
                <a:solidFill>
                  <a:srgbClr val="2C3E50"/>
                </a:solidFill>
                <a:latin typeface="Noto Sans KR Light"/>
              </a:rPr>
              <a:t>노트 작성 &amp; 홈 화면</a:t>
            </a:r>
          </a:p>
          <a:p>
            <a:pPr algn="l"/>
            <a:r>
              <a:rPr sz="1200">
                <a:solidFill>
                  <a:srgbClr val="2C3E50"/>
                </a:solidFill>
                <a:latin typeface="Noto Sans KR Light"/>
              </a:rPr>
              <a:t/>
            </a:r>
          </a:p>
          <a:p>
            <a:pPr algn="l"/>
            <a:r>
              <a:rPr sz="1200">
                <a:solidFill>
                  <a:srgbClr val="2C3E50"/>
                </a:solidFill>
                <a:latin typeface="Noto Sans KR Light"/>
              </a:rPr>
              <a:t>• note/create.tsx</a:t>
            </a:r>
          </a:p>
          <a:p>
            <a:pPr algn="l"/>
            <a:r>
              <a:rPr sz="1200">
                <a:solidFill>
                  <a:srgbClr val="2C3E50"/>
                </a:solidFill>
                <a:latin typeface="Noto Sans KR Light"/>
              </a:rPr>
              <a:t>• (tabs)/index.tsx</a:t>
            </a:r>
          </a:p>
          <a:p>
            <a:pPr algn="l"/>
            <a:r>
              <a:rPr sz="1200">
                <a:solidFill>
                  <a:srgbClr val="2C3E50"/>
                </a:solidFill>
                <a:latin typeface="Noto Sans KR Light"/>
              </a:rPr>
              <a:t>• services/notes.ts</a:t>
            </a:r>
          </a:p>
          <a:p>
            <a:pPr algn="l"/>
            <a:r>
              <a:rPr sz="1200">
                <a:solidFill>
                  <a:srgbClr val="2C3E50"/>
                </a:solidFill>
                <a:latin typeface="Noto Sans KR Light"/>
              </a:rPr>
              <a:t>• types/index.ts</a:t>
            </a:r>
          </a:p>
          <a:p>
            <a:pPr algn="l"/>
            <a:r>
              <a:rPr sz="1200">
                <a:solidFill>
                  <a:srgbClr val="2C3E50"/>
                </a:solidFill>
                <a:latin typeface="Noto Sans KR Light"/>
              </a:rPr>
              <a:t>• 하단 탭바 구성</a:t>
            </a:r>
          </a:p>
          <a:p>
            <a:pPr algn="l"/>
            <a:r>
              <a:rPr sz="1200">
                <a:solidFill>
                  <a:srgbClr val="2C3E50"/>
                </a:solidFill>
                <a:latin typeface="Noto Sans KR Light"/>
              </a:rPr>
              <a:t>  홈 / 캘린더 / 설정</a:t>
            </a:r>
          </a:p>
        </p:txBody>
      </p:sp>
      <p:sp>
        <p:nvSpPr>
          <p:cNvPr id="9" name="Rectangle 8"/>
          <p:cNvSpPr/>
          <p:nvPr/>
        </p:nvSpPr>
        <p:spPr>
          <a:xfrm>
            <a:off x="9267444" y="1188720"/>
            <a:ext cx="2651760" cy="5029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NanumGothicExtraBold"/>
              </a:rPr>
              <a:t>저장 위치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67444" y="1691640"/>
            <a:ext cx="2651760" cy="4251960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>
                <a:solidFill>
                  <a:srgbClr val="2C3E50"/>
                </a:solidFill>
                <a:latin typeface="Noto Sans KR Light"/>
              </a:rPr>
              <a:t>📁 app/note/</a:t>
            </a:r>
          </a:p>
          <a:p>
            <a:pPr algn="l"/>
            <a:r>
              <a:rPr sz="1200">
                <a:solidFill>
                  <a:srgbClr val="2C3E50"/>
                </a:solidFill>
                <a:latin typeface="Noto Sans KR Light"/>
              </a:rPr>
              <a:t>└── create.tsx</a:t>
            </a:r>
          </a:p>
          <a:p>
            <a:pPr algn="l"/>
            <a:r>
              <a:rPr sz="1200">
                <a:solidFill>
                  <a:srgbClr val="2C3E50"/>
                </a:solidFill>
                <a:latin typeface="Noto Sans KR Light"/>
              </a:rPr>
              <a:t/>
            </a:r>
          </a:p>
          <a:p>
            <a:pPr algn="l"/>
            <a:r>
              <a:rPr sz="1200">
                <a:solidFill>
                  <a:srgbClr val="2C3E50"/>
                </a:solidFill>
                <a:latin typeface="Noto Sans KR Light"/>
              </a:rPr>
              <a:t>📁 app/(tabs)/</a:t>
            </a:r>
          </a:p>
          <a:p>
            <a:pPr algn="l"/>
            <a:r>
              <a:rPr sz="1200">
                <a:solidFill>
                  <a:srgbClr val="2C3E50"/>
                </a:solidFill>
                <a:latin typeface="Noto Sans KR Light"/>
              </a:rPr>
              <a:t>└── index.tsx</a:t>
            </a:r>
          </a:p>
          <a:p>
            <a:pPr algn="l"/>
            <a:r>
              <a:rPr sz="1200">
                <a:solidFill>
                  <a:srgbClr val="2C3E50"/>
                </a:solidFill>
                <a:latin typeface="Noto Sans KR Light"/>
              </a:rPr>
              <a:t/>
            </a:r>
          </a:p>
          <a:p>
            <a:pPr algn="l"/>
            <a:r>
              <a:rPr sz="1200">
                <a:solidFill>
                  <a:srgbClr val="2C3E50"/>
                </a:solidFill>
                <a:latin typeface="Noto Sans KR Light"/>
              </a:rPr>
              <a:t>📁 services/</a:t>
            </a:r>
          </a:p>
          <a:p>
            <a:pPr algn="l"/>
            <a:r>
              <a:rPr sz="1200">
                <a:solidFill>
                  <a:srgbClr val="2C3E50"/>
                </a:solidFill>
                <a:latin typeface="Noto Sans KR Light"/>
              </a:rPr>
              <a:t>└── notes.ts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3E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NanumGothicExtraBold"/>
              </a:rPr>
              <a:t>다음 개발 계획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097280"/>
            <a:ext cx="2606040" cy="438912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NanumGothicExtraBold"/>
              </a:rPr>
              <a:t>3단계 마무리</a:t>
            </a:r>
          </a:p>
          <a:p>
            <a:pPr algn="l"/>
            <a:r>
              <a:rPr sz="1300">
                <a:solidFill>
                  <a:srgbClr val="FFFFFF"/>
                </a:solidFill>
                <a:latin typeface="Noto Sans KR Light"/>
              </a:rPr>
              <a:t>
• 노트 상세 화면</a:t>
            </a:r>
          </a:p>
          <a:p>
            <a:pPr algn="l"/>
            <a:r>
              <a:rPr sz="1300">
                <a:solidFill>
                  <a:srgbClr val="FFFFFF"/>
                </a:solidFill>
                <a:latin typeface="Noto Sans KR Light"/>
              </a:rPr>
              <a:t>
• 자가 체크 기능</a:t>
            </a:r>
          </a:p>
          <a:p>
            <a:pPr algn="l"/>
            <a:r>
              <a:rPr sz="1300">
                <a:solidFill>
                  <a:srgbClr val="FFFFFF"/>
                </a:solidFill>
                <a:latin typeface="Noto Sans KR Light"/>
              </a:rPr>
              <a:t>
• 복습 날짜 자동 계산 로직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0" y="1097280"/>
            <a:ext cx="2606040" cy="43891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NanumGothicExtraBold"/>
              </a:rPr>
              <a:t>4단계</a:t>
            </a:r>
          </a:p>
          <a:p>
            <a:pPr algn="l"/>
            <a:r>
              <a:rPr sz="1300">
                <a:solidFill>
                  <a:srgbClr val="FFFFFF"/>
                </a:solidFill>
                <a:latin typeface="Noto Sans KR Light"/>
              </a:rPr>
              <a:t>
• 캘린더 화면 (월간 뷰)</a:t>
            </a:r>
          </a:p>
          <a:p>
            <a:pPr algn="l"/>
            <a:r>
              <a:rPr sz="1300">
                <a:solidFill>
                  <a:srgbClr val="FFFFFF"/>
                </a:solidFill>
                <a:latin typeface="Noto Sans KR Light"/>
              </a:rPr>
              <a:t>
• 스트릭 기능</a:t>
            </a:r>
          </a:p>
          <a:p>
            <a:pPr algn="l"/>
            <a:r>
              <a:rPr sz="1300">
                <a:solidFill>
                  <a:srgbClr val="FFFFFF"/>
                </a:solidFill>
                <a:latin typeface="Noto Sans KR Light"/>
              </a:rPr>
              <a:t>
• 연속 복습 일수 표시</a:t>
            </a:r>
          </a:p>
        </p:txBody>
      </p:sp>
      <p:sp>
        <p:nvSpPr>
          <p:cNvPr id="5" name="Rectangle 4"/>
          <p:cNvSpPr/>
          <p:nvPr/>
        </p:nvSpPr>
        <p:spPr>
          <a:xfrm>
            <a:off x="6035040" y="1097280"/>
            <a:ext cx="2606040" cy="438912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NanumGothicExtraBold"/>
              </a:rPr>
              <a:t>5단계</a:t>
            </a:r>
          </a:p>
          <a:p>
            <a:pPr algn="l"/>
            <a:r>
              <a:rPr sz="1300">
                <a:solidFill>
                  <a:srgbClr val="FFFFFF"/>
                </a:solidFill>
                <a:latin typeface="Noto Sans KR Light"/>
              </a:rPr>
              <a:t>
• Claude API 연동</a:t>
            </a:r>
          </a:p>
          <a:p>
            <a:pPr algn="l"/>
            <a:r>
              <a:rPr sz="1300">
                <a:solidFill>
                  <a:srgbClr val="FFFFFF"/>
                </a:solidFill>
                <a:latin typeface="Noto Sans KR Light"/>
              </a:rPr>
              <a:t>
• 노트 기반 문제 자동 생성</a:t>
            </a:r>
          </a:p>
          <a:p>
            <a:pPr algn="l"/>
            <a:r>
              <a:rPr sz="1300">
                <a:solidFill>
                  <a:srgbClr val="FFFFFF"/>
                </a:solidFill>
                <a:latin typeface="Noto Sans KR Light"/>
              </a:rPr>
              <a:t>
• AI 테스트 화면</a:t>
            </a:r>
          </a:p>
        </p:txBody>
      </p:sp>
      <p:sp>
        <p:nvSpPr>
          <p:cNvPr id="6" name="Rectangle 5"/>
          <p:cNvSpPr/>
          <p:nvPr/>
        </p:nvSpPr>
        <p:spPr>
          <a:xfrm>
            <a:off x="8869680" y="1097280"/>
            <a:ext cx="2606040" cy="438912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NanumGothicExtraBold"/>
              </a:rPr>
              <a:t>6단계</a:t>
            </a:r>
          </a:p>
          <a:p>
            <a:pPr algn="l"/>
            <a:r>
              <a:rPr sz="1300">
                <a:solidFill>
                  <a:srgbClr val="FFFFFF"/>
                </a:solidFill>
                <a:latin typeface="Noto Sans KR Light"/>
              </a:rPr>
              <a:t>
• 설정 화면</a:t>
            </a:r>
          </a:p>
          <a:p>
            <a:pPr algn="l"/>
            <a:r>
              <a:rPr sz="1300">
                <a:solidFill>
                  <a:srgbClr val="FFFFFF"/>
                </a:solidFill>
                <a:latin typeface="Noto Sans KR Light"/>
              </a:rPr>
              <a:t>
• 복습 알림 기능</a:t>
            </a:r>
          </a:p>
          <a:p>
            <a:pPr algn="l"/>
            <a:r>
              <a:rPr sz="1300">
                <a:solidFill>
                  <a:srgbClr val="FFFFFF"/>
                </a:solidFill>
                <a:latin typeface="Noto Sans KR Light"/>
              </a:rPr>
              <a:t>
• 전체 UI 다듬기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852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AAAAAA"/>
                </a:solidFill>
                <a:latin typeface="Noto Sans KR Light"/>
              </a:rPr>
              <a:t>프로토타입 목표: 1~4단계 완성 후 실제 폰 시연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